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95" r:id="rId3"/>
    <p:sldId id="303" r:id="rId4"/>
    <p:sldId id="302" r:id="rId5"/>
    <p:sldId id="301" r:id="rId6"/>
    <p:sldId id="257" r:id="rId7"/>
    <p:sldId id="296" r:id="rId8"/>
    <p:sldId id="258" r:id="rId9"/>
    <p:sldId id="259" r:id="rId10"/>
    <p:sldId id="297" r:id="rId11"/>
    <p:sldId id="266" r:id="rId12"/>
    <p:sldId id="267" r:id="rId13"/>
    <p:sldId id="286" r:id="rId14"/>
    <p:sldId id="270" r:id="rId15"/>
    <p:sldId id="272" r:id="rId16"/>
    <p:sldId id="273" r:id="rId17"/>
    <p:sldId id="288" r:id="rId18"/>
    <p:sldId id="285" r:id="rId19"/>
    <p:sldId id="289" r:id="rId20"/>
    <p:sldId id="275" r:id="rId21"/>
    <p:sldId id="276" r:id="rId22"/>
    <p:sldId id="298" r:id="rId23"/>
    <p:sldId id="299" r:id="rId24"/>
    <p:sldId id="300" r:id="rId25"/>
    <p:sldId id="294" r:id="rId26"/>
    <p:sldId id="277" r:id="rId27"/>
    <p:sldId id="279" r:id="rId28"/>
    <p:sldId id="280" r:id="rId29"/>
    <p:sldId id="281" r:id="rId30"/>
    <p:sldId id="282" r:id="rId31"/>
    <p:sldId id="260" r:id="rId32"/>
    <p:sldId id="287" r:id="rId33"/>
    <p:sldId id="283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C0BE"/>
    <a:srgbClr val="4C4B47"/>
    <a:srgbClr val="F6F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50"/>
    <p:restoredTop sz="94610"/>
  </p:normalViewPr>
  <p:slideViewPr>
    <p:cSldViewPr snapToGrid="0" snapToObjects="1">
      <p:cViewPr varScale="1">
        <p:scale>
          <a:sx n="208" d="100"/>
          <a:sy n="208" d="100"/>
        </p:scale>
        <p:origin x="19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7480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326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21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37401-444E-C963-CB75-A1C3ED7F9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BA2524-D623-C761-8142-B7EDDBE6B0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A27029-68F8-8C3C-563A-67926A92E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BA59B-2582-0073-31BC-4AEF8B6BDA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096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4846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1541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3696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AABD1-AFD7-712F-790A-986EAC074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5F6546-A190-C9DC-0D51-D297D780EE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56D1CB-44E2-5394-AFAE-D191EE0BC0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655F7-80FD-193B-4B83-CF7F51E149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9317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95E71-16FE-4450-08FE-AB22FDD2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818628-7B89-9BD9-0CFE-9B3999667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15B76E-8823-8E73-507A-1BBFAA554B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82D4C-1FDE-ABDC-5B20-7B4CF1284A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7545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3D79C-4296-4323-1284-1E97FF805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B12694-928B-1403-CB2B-180D2B3F9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E3B29F-E940-2603-8983-7B7F6D46AC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10AFF-785D-C345-BFB8-10CAB3B5CB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4202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7116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2753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4CAE5-2DC9-CABE-66F4-1EB99847A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04B891-5BD6-9F4D-349D-AB7966C61B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C2653A-0DC8-890F-6CA6-4BB815F61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A9FA3-7B00-34DE-ECCC-26F91104F4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6192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Asymmetry of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Enterprise SaaS Sales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Verification Rule to Real-World Use Cases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Deriving Design Patterns for Human-AI Interfaces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Johannes Hötter  ·  Masterthesis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14E22-0C80-572D-94D4-0427E3A2A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0876F0B-6027-4F97-170E-AC9095780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53" y="0"/>
            <a:ext cx="5517568" cy="4863342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80B0861B-53D2-2C7D-A0D7-442318473BF1}"/>
              </a:ext>
            </a:extLst>
          </p:cNvPr>
          <p:cNvSpPr/>
          <p:nvPr/>
        </p:nvSpPr>
        <p:spPr>
          <a:xfrm>
            <a:off x="1117213" y="115088"/>
            <a:ext cx="4575825" cy="4346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C0D43C15-D2D4-5FAA-F717-4D15D646092E}"/>
              </a:ext>
            </a:extLst>
          </p:cNvPr>
          <p:cNvSpPr/>
          <p:nvPr/>
        </p:nvSpPr>
        <p:spPr>
          <a:xfrm>
            <a:off x="1356169" y="1238052"/>
            <a:ext cx="894805" cy="398418"/>
          </a:xfrm>
          <a:prstGeom prst="rect">
            <a:avLst/>
          </a:prstGeom>
          <a:solidFill>
            <a:srgbClr val="F6F4EE"/>
          </a:solidFill>
          <a:ln>
            <a:solidFill>
              <a:srgbClr val="C1C0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rgbClr val="4C4B47"/>
                </a:solidFill>
              </a:rPr>
              <a:t>1) Design Challenge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8D903DD-CB10-A076-EDF2-A67000AAC80B}"/>
              </a:ext>
            </a:extLst>
          </p:cNvPr>
          <p:cNvSpPr/>
          <p:nvPr/>
        </p:nvSpPr>
        <p:spPr>
          <a:xfrm>
            <a:off x="1356170" y="356309"/>
            <a:ext cx="894805" cy="398418"/>
          </a:xfrm>
          <a:prstGeom prst="rect">
            <a:avLst/>
          </a:prstGeom>
          <a:solidFill>
            <a:srgbClr val="F6F4EE"/>
          </a:solidFill>
          <a:ln>
            <a:solidFill>
              <a:srgbClr val="C1C0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rgbClr val="4C4B47"/>
                </a:solidFill>
              </a:rPr>
              <a:t>2) Expert Exploration Interviews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30C5418-2FE6-DF42-2607-496597ED96B7}"/>
              </a:ext>
            </a:extLst>
          </p:cNvPr>
          <p:cNvSpPr/>
          <p:nvPr/>
        </p:nvSpPr>
        <p:spPr>
          <a:xfrm>
            <a:off x="3636467" y="356309"/>
            <a:ext cx="894805" cy="398418"/>
          </a:xfrm>
          <a:prstGeom prst="rect">
            <a:avLst/>
          </a:prstGeom>
          <a:solidFill>
            <a:srgbClr val="F6F4EE"/>
          </a:solidFill>
          <a:ln>
            <a:solidFill>
              <a:srgbClr val="C1C0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rgbClr val="4C4B47"/>
                </a:solidFill>
              </a:rPr>
              <a:t>4) Use Case Synthesis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CD0F1188-C027-30DE-4643-04C0C1644DEE}"/>
              </a:ext>
            </a:extLst>
          </p:cNvPr>
          <p:cNvSpPr/>
          <p:nvPr/>
        </p:nvSpPr>
        <p:spPr>
          <a:xfrm>
            <a:off x="3636467" y="1238052"/>
            <a:ext cx="894805" cy="398418"/>
          </a:xfrm>
          <a:prstGeom prst="rect">
            <a:avLst/>
          </a:prstGeom>
          <a:solidFill>
            <a:srgbClr val="F6F4EE"/>
          </a:solidFill>
          <a:ln>
            <a:solidFill>
              <a:srgbClr val="C1C0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rgbClr val="4C4B47"/>
                </a:solidFill>
              </a:rPr>
              <a:t>5) Use Case </a:t>
            </a:r>
            <a:r>
              <a:rPr lang="de-DE" sz="800" dirty="0" err="1">
                <a:solidFill>
                  <a:srgbClr val="4C4B47"/>
                </a:solidFill>
              </a:rPr>
              <a:t>Requirements</a:t>
            </a:r>
            <a:endParaRPr lang="de-DE" sz="800" dirty="0">
              <a:solidFill>
                <a:srgbClr val="4C4B47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9106DF90-0DA7-FA89-1BD2-12DD9436DD2D}"/>
              </a:ext>
            </a:extLst>
          </p:cNvPr>
          <p:cNvSpPr/>
          <p:nvPr/>
        </p:nvSpPr>
        <p:spPr>
          <a:xfrm>
            <a:off x="3636467" y="2130574"/>
            <a:ext cx="894805" cy="398418"/>
          </a:xfrm>
          <a:prstGeom prst="rect">
            <a:avLst/>
          </a:prstGeom>
          <a:solidFill>
            <a:srgbClr val="F6F4EE"/>
          </a:solidFill>
          <a:ln>
            <a:solidFill>
              <a:srgbClr val="C1C0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rgbClr val="4C4B47"/>
                </a:solidFill>
              </a:rPr>
              <a:t>6) Use Case </a:t>
            </a:r>
            <a:r>
              <a:rPr lang="de-DE" sz="800" dirty="0" err="1">
                <a:solidFill>
                  <a:srgbClr val="4C4B47"/>
                </a:solidFill>
              </a:rPr>
              <a:t>Specifications</a:t>
            </a:r>
            <a:r>
              <a:rPr lang="de-DE" sz="800" dirty="0">
                <a:solidFill>
                  <a:srgbClr val="4C4B47"/>
                </a:solidFill>
              </a:rPr>
              <a:t> &amp; Development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922DCE8B-7951-1BB2-E09E-B35CC68079A4}"/>
              </a:ext>
            </a:extLst>
          </p:cNvPr>
          <p:cNvSpPr/>
          <p:nvPr/>
        </p:nvSpPr>
        <p:spPr>
          <a:xfrm>
            <a:off x="3636467" y="3794017"/>
            <a:ext cx="894805" cy="398418"/>
          </a:xfrm>
          <a:prstGeom prst="rect">
            <a:avLst/>
          </a:prstGeom>
          <a:solidFill>
            <a:srgbClr val="F6F4EE"/>
          </a:solidFill>
          <a:ln>
            <a:solidFill>
              <a:srgbClr val="C1C0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rgbClr val="4C4B47"/>
                </a:solidFill>
              </a:rPr>
              <a:t>8) Expert Interview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9AA346B3-9280-F042-B0E2-B1B5F7E511F1}"/>
              </a:ext>
            </a:extLst>
          </p:cNvPr>
          <p:cNvSpPr/>
          <p:nvPr/>
        </p:nvSpPr>
        <p:spPr>
          <a:xfrm>
            <a:off x="5408340" y="381672"/>
            <a:ext cx="894805" cy="398418"/>
          </a:xfrm>
          <a:prstGeom prst="rect">
            <a:avLst/>
          </a:prstGeom>
          <a:solidFill>
            <a:srgbClr val="F6F4EE"/>
          </a:solidFill>
          <a:ln>
            <a:solidFill>
              <a:srgbClr val="C1C0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rgbClr val="4C4B47"/>
                </a:solidFill>
              </a:rPr>
              <a:t>9) </a:t>
            </a:r>
            <a:r>
              <a:rPr lang="de-DE" sz="800" dirty="0" err="1">
                <a:solidFill>
                  <a:srgbClr val="4C4B47"/>
                </a:solidFill>
              </a:rPr>
              <a:t>Verification</a:t>
            </a:r>
            <a:r>
              <a:rPr lang="de-DE" sz="800" dirty="0">
                <a:solidFill>
                  <a:srgbClr val="4C4B47"/>
                </a:solidFill>
              </a:rPr>
              <a:t> </a:t>
            </a:r>
            <a:r>
              <a:rPr lang="de-DE" sz="800" dirty="0" err="1">
                <a:solidFill>
                  <a:srgbClr val="4C4B47"/>
                </a:solidFill>
              </a:rPr>
              <a:t>quadrant</a:t>
            </a:r>
            <a:r>
              <a:rPr lang="de-DE" sz="800" dirty="0">
                <a:solidFill>
                  <a:srgbClr val="4C4B47"/>
                </a:solidFill>
              </a:rPr>
              <a:t> </a:t>
            </a:r>
            <a:r>
              <a:rPr lang="de-DE" sz="800" dirty="0" err="1">
                <a:solidFill>
                  <a:srgbClr val="4C4B47"/>
                </a:solidFill>
              </a:rPr>
              <a:t>classification</a:t>
            </a:r>
            <a:endParaRPr lang="de-DE" sz="800" dirty="0">
              <a:solidFill>
                <a:srgbClr val="4C4B47"/>
              </a:solidFill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6F61782-E465-ADB9-FFFF-B13F2D20D700}"/>
              </a:ext>
            </a:extLst>
          </p:cNvPr>
          <p:cNvSpPr/>
          <p:nvPr/>
        </p:nvSpPr>
        <p:spPr>
          <a:xfrm>
            <a:off x="5408340" y="1238052"/>
            <a:ext cx="894805" cy="398418"/>
          </a:xfrm>
          <a:prstGeom prst="rect">
            <a:avLst/>
          </a:prstGeom>
          <a:solidFill>
            <a:srgbClr val="F6F4EE"/>
          </a:solidFill>
          <a:ln>
            <a:solidFill>
              <a:srgbClr val="C1C0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rgbClr val="4C4B47"/>
                </a:solidFill>
              </a:rPr>
              <a:t>10) Design </a:t>
            </a:r>
            <a:r>
              <a:rPr lang="de-DE" sz="800" dirty="0" err="1">
                <a:solidFill>
                  <a:srgbClr val="4C4B47"/>
                </a:solidFill>
              </a:rPr>
              <a:t>objective</a:t>
            </a:r>
            <a:r>
              <a:rPr lang="de-DE" sz="800" dirty="0">
                <a:solidFill>
                  <a:srgbClr val="4C4B47"/>
                </a:solidFill>
              </a:rPr>
              <a:t> and </a:t>
            </a:r>
            <a:r>
              <a:rPr lang="de-DE" sz="800" dirty="0" err="1">
                <a:solidFill>
                  <a:srgbClr val="4C4B47"/>
                </a:solidFill>
              </a:rPr>
              <a:t>requirements</a:t>
            </a:r>
            <a:endParaRPr lang="de-DE" sz="800" dirty="0">
              <a:solidFill>
                <a:srgbClr val="4C4B47"/>
              </a:solidFill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70CB5A8A-B033-F49C-C539-70F71796CC58}"/>
              </a:ext>
            </a:extLst>
          </p:cNvPr>
          <p:cNvSpPr/>
          <p:nvPr/>
        </p:nvSpPr>
        <p:spPr>
          <a:xfrm>
            <a:off x="5408340" y="2130574"/>
            <a:ext cx="894805" cy="398418"/>
          </a:xfrm>
          <a:prstGeom prst="rect">
            <a:avLst/>
          </a:prstGeom>
          <a:solidFill>
            <a:srgbClr val="F6F4EE"/>
          </a:solidFill>
          <a:ln>
            <a:solidFill>
              <a:srgbClr val="C1C0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rgbClr val="4C4B47"/>
                </a:solidFill>
              </a:rPr>
              <a:t>11) </a:t>
            </a:r>
            <a:r>
              <a:rPr lang="de-DE" sz="800" dirty="0" err="1">
                <a:solidFill>
                  <a:srgbClr val="4C4B47"/>
                </a:solidFill>
              </a:rPr>
              <a:t>Derive</a:t>
            </a:r>
            <a:r>
              <a:rPr lang="de-DE" sz="800" dirty="0">
                <a:solidFill>
                  <a:srgbClr val="4C4B47"/>
                </a:solidFill>
              </a:rPr>
              <a:t> DPs</a:t>
            </a:r>
          </a:p>
        </p:txBody>
      </p:sp>
      <p:cxnSp>
        <p:nvCxnSpPr>
          <p:cNvPr id="32" name="Gewinkelte Verbindung 31">
            <a:extLst>
              <a:ext uri="{FF2B5EF4-FFF2-40B4-BE49-F238E27FC236}">
                <a16:creationId xmlns:a16="http://schemas.microsoft.com/office/drawing/2014/main" id="{0C4080C4-DF79-B42C-D34D-8DEBDD210789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 flipV="1">
            <a:off x="4531272" y="580881"/>
            <a:ext cx="877068" cy="3412345"/>
          </a:xfrm>
          <a:prstGeom prst="bentConnector3">
            <a:avLst>
              <a:gd name="adj1" fmla="val 50000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D129A3B8-A0FC-4260-EA94-9C1C22D4E00E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1803571" y="754727"/>
            <a:ext cx="2" cy="48332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A475387E-D098-9FA2-2B73-5CCF65A6497D}"/>
              </a:ext>
            </a:extLst>
          </p:cNvPr>
          <p:cNvCxnSpPr>
            <a:cxnSpLocks/>
            <a:stCxn id="12" idx="3"/>
            <a:endCxn id="93" idx="1"/>
          </p:cNvCxnSpPr>
          <p:nvPr/>
        </p:nvCxnSpPr>
        <p:spPr>
          <a:xfrm>
            <a:off x="2250975" y="555518"/>
            <a:ext cx="223726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F6CFC87F-9608-9C8D-BBBC-E87586F7F1ED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4083870" y="754727"/>
            <a:ext cx="0" cy="48332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8C1FE577-0C2A-B2A5-F1E7-2BDE2861F4A8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4083870" y="1636470"/>
            <a:ext cx="0" cy="49410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98A53A45-96C3-167F-3D58-C33CD6F2FA82}"/>
              </a:ext>
            </a:extLst>
          </p:cNvPr>
          <p:cNvCxnSpPr>
            <a:cxnSpLocks/>
            <a:stCxn id="16" idx="2"/>
            <a:endCxn id="75" idx="0"/>
          </p:cNvCxnSpPr>
          <p:nvPr/>
        </p:nvCxnSpPr>
        <p:spPr>
          <a:xfrm>
            <a:off x="4083870" y="2528992"/>
            <a:ext cx="0" cy="447183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F69B04FD-01C1-351C-8AAC-1B6595D88953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>
            <a:off x="5855743" y="780090"/>
            <a:ext cx="0" cy="457962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55433CF6-C649-B068-241A-9D4E55E0A37E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>
            <a:off x="5855743" y="1636470"/>
            <a:ext cx="0" cy="49410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hteck 65">
            <a:extLst>
              <a:ext uri="{FF2B5EF4-FFF2-40B4-BE49-F238E27FC236}">
                <a16:creationId xmlns:a16="http://schemas.microsoft.com/office/drawing/2014/main" id="{83104212-1F8F-881C-0B63-7B515C543B2C}"/>
              </a:ext>
            </a:extLst>
          </p:cNvPr>
          <p:cNvSpPr/>
          <p:nvPr/>
        </p:nvSpPr>
        <p:spPr>
          <a:xfrm>
            <a:off x="5408340" y="3794017"/>
            <a:ext cx="894805" cy="398418"/>
          </a:xfrm>
          <a:prstGeom prst="rect">
            <a:avLst/>
          </a:prstGeom>
          <a:solidFill>
            <a:srgbClr val="F6F4EE"/>
          </a:solidFill>
          <a:ln>
            <a:solidFill>
              <a:srgbClr val="C1C0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rgbClr val="4C4B47"/>
                </a:solidFill>
              </a:rPr>
              <a:t>13) Scenario-</a:t>
            </a:r>
            <a:r>
              <a:rPr lang="de-DE" sz="800" dirty="0" err="1">
                <a:solidFill>
                  <a:srgbClr val="4C4B47"/>
                </a:solidFill>
              </a:rPr>
              <a:t>based</a:t>
            </a:r>
            <a:r>
              <a:rPr lang="de-DE" sz="800" dirty="0">
                <a:solidFill>
                  <a:srgbClr val="4C4B47"/>
                </a:solidFill>
              </a:rPr>
              <a:t> </a:t>
            </a:r>
            <a:r>
              <a:rPr lang="de-DE" sz="800" dirty="0" err="1">
                <a:solidFill>
                  <a:srgbClr val="4C4B47"/>
                </a:solidFill>
              </a:rPr>
              <a:t>Testing</a:t>
            </a:r>
            <a:endParaRPr lang="de-DE" sz="800" dirty="0">
              <a:solidFill>
                <a:srgbClr val="4C4B47"/>
              </a:solidFill>
            </a:endParaRPr>
          </a:p>
        </p:txBody>
      </p: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15FEA3F7-7D41-1193-82F8-AA8DBFA1B656}"/>
              </a:ext>
            </a:extLst>
          </p:cNvPr>
          <p:cNvCxnSpPr>
            <a:cxnSpLocks/>
            <a:stCxn id="20" idx="2"/>
            <a:endCxn id="84" idx="0"/>
          </p:cNvCxnSpPr>
          <p:nvPr/>
        </p:nvCxnSpPr>
        <p:spPr>
          <a:xfrm>
            <a:off x="5855743" y="2528992"/>
            <a:ext cx="0" cy="447183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hteck 74">
            <a:extLst>
              <a:ext uri="{FF2B5EF4-FFF2-40B4-BE49-F238E27FC236}">
                <a16:creationId xmlns:a16="http://schemas.microsoft.com/office/drawing/2014/main" id="{5A860E6C-D2D0-EEFF-B4DB-C3ACDBF3DE15}"/>
              </a:ext>
            </a:extLst>
          </p:cNvPr>
          <p:cNvSpPr/>
          <p:nvPr/>
        </p:nvSpPr>
        <p:spPr>
          <a:xfrm>
            <a:off x="3636467" y="2976175"/>
            <a:ext cx="894805" cy="398418"/>
          </a:xfrm>
          <a:prstGeom prst="rect">
            <a:avLst/>
          </a:prstGeom>
          <a:solidFill>
            <a:srgbClr val="F6F4EE"/>
          </a:solidFill>
          <a:ln>
            <a:solidFill>
              <a:srgbClr val="C1C0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rgbClr val="4C4B47"/>
                </a:solidFill>
              </a:rPr>
              <a:t>7) Use Case Demonstration</a:t>
            </a:r>
          </a:p>
        </p:txBody>
      </p: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4434B0AA-7185-DA99-73CC-013A74B82422}"/>
              </a:ext>
            </a:extLst>
          </p:cNvPr>
          <p:cNvCxnSpPr>
            <a:cxnSpLocks/>
            <a:stCxn id="75" idx="2"/>
            <a:endCxn id="17" idx="0"/>
          </p:cNvCxnSpPr>
          <p:nvPr/>
        </p:nvCxnSpPr>
        <p:spPr>
          <a:xfrm>
            <a:off x="4083870" y="3374593"/>
            <a:ext cx="0" cy="41942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hteck 83">
            <a:extLst>
              <a:ext uri="{FF2B5EF4-FFF2-40B4-BE49-F238E27FC236}">
                <a16:creationId xmlns:a16="http://schemas.microsoft.com/office/drawing/2014/main" id="{F3072617-7699-78CE-0752-76DA253E766D}"/>
              </a:ext>
            </a:extLst>
          </p:cNvPr>
          <p:cNvSpPr/>
          <p:nvPr/>
        </p:nvSpPr>
        <p:spPr>
          <a:xfrm>
            <a:off x="5408340" y="2976175"/>
            <a:ext cx="894805" cy="398418"/>
          </a:xfrm>
          <a:prstGeom prst="rect">
            <a:avLst/>
          </a:prstGeom>
          <a:solidFill>
            <a:srgbClr val="F6F4EE"/>
          </a:solidFill>
          <a:ln>
            <a:solidFill>
              <a:srgbClr val="C1C0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rgbClr val="4C4B47"/>
                </a:solidFill>
              </a:rPr>
              <a:t>12) DP </a:t>
            </a:r>
            <a:r>
              <a:rPr lang="de-DE" sz="800" dirty="0" err="1">
                <a:solidFill>
                  <a:srgbClr val="4C4B47"/>
                </a:solidFill>
              </a:rPr>
              <a:t>Prototypes</a:t>
            </a:r>
            <a:r>
              <a:rPr lang="de-DE" sz="800" dirty="0">
                <a:solidFill>
                  <a:srgbClr val="4C4B47"/>
                </a:solidFill>
              </a:rPr>
              <a:t> </a:t>
            </a:r>
            <a:r>
              <a:rPr lang="de-DE" sz="800" dirty="0" err="1">
                <a:solidFill>
                  <a:srgbClr val="4C4B47"/>
                </a:solidFill>
              </a:rPr>
              <a:t>Presentation</a:t>
            </a:r>
            <a:endParaRPr lang="de-DE" sz="800" dirty="0">
              <a:solidFill>
                <a:srgbClr val="4C4B47"/>
              </a:solidFill>
            </a:endParaRPr>
          </a:p>
        </p:txBody>
      </p:sp>
      <p:sp>
        <p:nvSpPr>
          <p:cNvPr id="93" name="Rechteck 92">
            <a:extLst>
              <a:ext uri="{FF2B5EF4-FFF2-40B4-BE49-F238E27FC236}">
                <a16:creationId xmlns:a16="http://schemas.microsoft.com/office/drawing/2014/main" id="{D3F078C8-6C0E-0CD5-3849-982D681FDE36}"/>
              </a:ext>
            </a:extLst>
          </p:cNvPr>
          <p:cNvSpPr/>
          <p:nvPr/>
        </p:nvSpPr>
        <p:spPr>
          <a:xfrm>
            <a:off x="2474701" y="356309"/>
            <a:ext cx="894805" cy="398418"/>
          </a:xfrm>
          <a:prstGeom prst="rect">
            <a:avLst/>
          </a:prstGeom>
          <a:solidFill>
            <a:srgbClr val="F6F4EE"/>
          </a:solidFill>
          <a:ln>
            <a:solidFill>
              <a:srgbClr val="C1C0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rgbClr val="4C4B47"/>
                </a:solidFill>
              </a:rPr>
              <a:t>3) Research Question</a:t>
            </a:r>
          </a:p>
        </p:txBody>
      </p:sp>
      <p:cxnSp>
        <p:nvCxnSpPr>
          <p:cNvPr id="101" name="Gerade Verbindung mit Pfeil 100">
            <a:extLst>
              <a:ext uri="{FF2B5EF4-FFF2-40B4-BE49-F238E27FC236}">
                <a16:creationId xmlns:a16="http://schemas.microsoft.com/office/drawing/2014/main" id="{8EC669FA-2D80-C92B-520E-CDEB409738CC}"/>
              </a:ext>
            </a:extLst>
          </p:cNvPr>
          <p:cNvCxnSpPr>
            <a:cxnSpLocks/>
            <a:stCxn id="93" idx="3"/>
            <a:endCxn id="14" idx="1"/>
          </p:cNvCxnSpPr>
          <p:nvPr/>
        </p:nvCxnSpPr>
        <p:spPr>
          <a:xfrm>
            <a:off x="3369506" y="555518"/>
            <a:ext cx="266961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hteck 122">
            <a:extLst>
              <a:ext uri="{FF2B5EF4-FFF2-40B4-BE49-F238E27FC236}">
                <a16:creationId xmlns:a16="http://schemas.microsoft.com/office/drawing/2014/main" id="{71CA1164-8D3C-0A94-8790-0119F608497E}"/>
              </a:ext>
            </a:extLst>
          </p:cNvPr>
          <p:cNvSpPr/>
          <p:nvPr/>
        </p:nvSpPr>
        <p:spPr>
          <a:xfrm>
            <a:off x="6729444" y="3794017"/>
            <a:ext cx="894805" cy="398418"/>
          </a:xfrm>
          <a:prstGeom prst="rect">
            <a:avLst/>
          </a:prstGeom>
          <a:solidFill>
            <a:srgbClr val="F6F4EE"/>
          </a:solidFill>
          <a:ln>
            <a:solidFill>
              <a:srgbClr val="C1C0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rgbClr val="4C4B47"/>
                </a:solidFill>
              </a:rPr>
              <a:t>14) Surveys</a:t>
            </a:r>
          </a:p>
        </p:txBody>
      </p:sp>
      <p:cxnSp>
        <p:nvCxnSpPr>
          <p:cNvPr id="124" name="Gerade Verbindung mit Pfeil 123">
            <a:extLst>
              <a:ext uri="{FF2B5EF4-FFF2-40B4-BE49-F238E27FC236}">
                <a16:creationId xmlns:a16="http://schemas.microsoft.com/office/drawing/2014/main" id="{CFFA5A54-EE02-851B-B1AE-05F4F6C3E22D}"/>
              </a:ext>
            </a:extLst>
          </p:cNvPr>
          <p:cNvCxnSpPr>
            <a:cxnSpLocks/>
            <a:stCxn id="66" idx="3"/>
            <a:endCxn id="123" idx="1"/>
          </p:cNvCxnSpPr>
          <p:nvPr/>
        </p:nvCxnSpPr>
        <p:spPr>
          <a:xfrm>
            <a:off x="6303145" y="3993226"/>
            <a:ext cx="426299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Gerade Verbindung mit Pfeil 126">
            <a:extLst>
              <a:ext uri="{FF2B5EF4-FFF2-40B4-BE49-F238E27FC236}">
                <a16:creationId xmlns:a16="http://schemas.microsoft.com/office/drawing/2014/main" id="{9C7EE339-4E85-3FFB-F683-EF544A17DB3B}"/>
              </a:ext>
            </a:extLst>
          </p:cNvPr>
          <p:cNvCxnSpPr>
            <a:cxnSpLocks/>
            <a:stCxn id="84" idx="2"/>
            <a:endCxn id="66" idx="0"/>
          </p:cNvCxnSpPr>
          <p:nvPr/>
        </p:nvCxnSpPr>
        <p:spPr>
          <a:xfrm>
            <a:off x="5855743" y="3374593"/>
            <a:ext cx="0" cy="41942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hteck 1">
            <a:extLst>
              <a:ext uri="{FF2B5EF4-FFF2-40B4-BE49-F238E27FC236}">
                <a16:creationId xmlns:a16="http://schemas.microsoft.com/office/drawing/2014/main" id="{83769E34-90E6-4FE2-966A-61A46A3BDE28}"/>
              </a:ext>
            </a:extLst>
          </p:cNvPr>
          <p:cNvSpPr/>
          <p:nvPr/>
        </p:nvSpPr>
        <p:spPr>
          <a:xfrm>
            <a:off x="8050548" y="3794017"/>
            <a:ext cx="894805" cy="398418"/>
          </a:xfrm>
          <a:prstGeom prst="rect">
            <a:avLst/>
          </a:prstGeom>
          <a:solidFill>
            <a:srgbClr val="F6F4EE"/>
          </a:solidFill>
          <a:ln>
            <a:solidFill>
              <a:srgbClr val="C1C0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rgbClr val="4C4B47"/>
                </a:solidFill>
              </a:rPr>
              <a:t>15) DP </a:t>
            </a:r>
            <a:r>
              <a:rPr lang="de-DE" sz="800" dirty="0" err="1">
                <a:solidFill>
                  <a:srgbClr val="4C4B47"/>
                </a:solidFill>
              </a:rPr>
              <a:t>validation</a:t>
            </a:r>
            <a:endParaRPr lang="de-DE" sz="800" dirty="0">
              <a:solidFill>
                <a:srgbClr val="4C4B47"/>
              </a:solidFill>
            </a:endParaRP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8ADE1C4C-CCC1-7567-7C37-C709D11BBE31}"/>
              </a:ext>
            </a:extLst>
          </p:cNvPr>
          <p:cNvCxnSpPr>
            <a:cxnSpLocks/>
            <a:stCxn id="123" idx="3"/>
            <a:endCxn id="2" idx="1"/>
          </p:cNvCxnSpPr>
          <p:nvPr/>
        </p:nvCxnSpPr>
        <p:spPr>
          <a:xfrm>
            <a:off x="7624249" y="3993226"/>
            <a:ext cx="426299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1757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F1BB9-C555-4BD6-FE88-932FD9085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045121E9-F9E7-3E46-15CB-8EF6B89DD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32" y="140079"/>
            <a:ext cx="5517568" cy="4863342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FC10521A-731C-447A-6AB6-3016B0E21B43}"/>
              </a:ext>
            </a:extLst>
          </p:cNvPr>
          <p:cNvSpPr/>
          <p:nvPr/>
        </p:nvSpPr>
        <p:spPr>
          <a:xfrm>
            <a:off x="1080392" y="255167"/>
            <a:ext cx="5307345" cy="41927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9C15157-6284-D7C7-706D-3FB7A5BAE91D}"/>
              </a:ext>
            </a:extLst>
          </p:cNvPr>
          <p:cNvSpPr/>
          <p:nvPr/>
        </p:nvSpPr>
        <p:spPr>
          <a:xfrm>
            <a:off x="1319348" y="1378131"/>
            <a:ext cx="894805" cy="398418"/>
          </a:xfrm>
          <a:prstGeom prst="rect">
            <a:avLst/>
          </a:prstGeom>
          <a:solidFill>
            <a:srgbClr val="F6F4EE"/>
          </a:solidFill>
          <a:ln>
            <a:solidFill>
              <a:srgbClr val="C1C0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rgbClr val="4C4B47"/>
                </a:solidFill>
              </a:rPr>
              <a:t>Design Challenge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00E4C43-2605-33CB-76B8-6BC7631E4C2C}"/>
              </a:ext>
            </a:extLst>
          </p:cNvPr>
          <p:cNvSpPr/>
          <p:nvPr/>
        </p:nvSpPr>
        <p:spPr>
          <a:xfrm>
            <a:off x="1319349" y="496388"/>
            <a:ext cx="894805" cy="398418"/>
          </a:xfrm>
          <a:prstGeom prst="rect">
            <a:avLst/>
          </a:prstGeom>
          <a:solidFill>
            <a:srgbClr val="F6F4EE"/>
          </a:solidFill>
          <a:ln>
            <a:solidFill>
              <a:srgbClr val="C1C0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rgbClr val="4C4B47"/>
                </a:solidFill>
              </a:rPr>
              <a:t>Expert Exploration Interviews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65F61414-B3B7-57CA-1ADC-746AAC900029}"/>
              </a:ext>
            </a:extLst>
          </p:cNvPr>
          <p:cNvSpPr/>
          <p:nvPr/>
        </p:nvSpPr>
        <p:spPr>
          <a:xfrm>
            <a:off x="2959974" y="496388"/>
            <a:ext cx="894805" cy="398418"/>
          </a:xfrm>
          <a:prstGeom prst="rect">
            <a:avLst/>
          </a:prstGeom>
          <a:solidFill>
            <a:srgbClr val="F6F4EE"/>
          </a:solidFill>
          <a:ln>
            <a:solidFill>
              <a:srgbClr val="C1C0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rgbClr val="4C4B47"/>
                </a:solidFill>
              </a:rPr>
              <a:t>Use Case Synthese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2D18BAF8-A0EA-E630-FE04-1617E465DAB1}"/>
              </a:ext>
            </a:extLst>
          </p:cNvPr>
          <p:cNvSpPr/>
          <p:nvPr/>
        </p:nvSpPr>
        <p:spPr>
          <a:xfrm>
            <a:off x="2959974" y="1378131"/>
            <a:ext cx="894805" cy="398418"/>
          </a:xfrm>
          <a:prstGeom prst="rect">
            <a:avLst/>
          </a:prstGeom>
          <a:solidFill>
            <a:srgbClr val="F6F4EE"/>
          </a:solidFill>
          <a:ln>
            <a:solidFill>
              <a:srgbClr val="C1C0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rgbClr val="4C4B47"/>
                </a:solidFill>
              </a:rPr>
              <a:t>Use Case </a:t>
            </a:r>
            <a:r>
              <a:rPr lang="de-DE" sz="800" dirty="0" err="1">
                <a:solidFill>
                  <a:srgbClr val="4C4B47"/>
                </a:solidFill>
              </a:rPr>
              <a:t>Requirements</a:t>
            </a:r>
            <a:endParaRPr lang="de-DE" sz="800" dirty="0">
              <a:solidFill>
                <a:srgbClr val="4C4B47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02A4C1DE-FC0D-1C95-C86C-9618A3AA2931}"/>
              </a:ext>
            </a:extLst>
          </p:cNvPr>
          <p:cNvSpPr/>
          <p:nvPr/>
        </p:nvSpPr>
        <p:spPr>
          <a:xfrm>
            <a:off x="2959974" y="2259874"/>
            <a:ext cx="894805" cy="398418"/>
          </a:xfrm>
          <a:prstGeom prst="rect">
            <a:avLst/>
          </a:prstGeom>
          <a:solidFill>
            <a:srgbClr val="F6F4EE"/>
          </a:solidFill>
          <a:ln>
            <a:solidFill>
              <a:srgbClr val="C1C0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rgbClr val="4C4B47"/>
                </a:solidFill>
              </a:rPr>
              <a:t>Use Case </a:t>
            </a:r>
            <a:r>
              <a:rPr lang="de-DE" sz="800" dirty="0" err="1">
                <a:solidFill>
                  <a:srgbClr val="4C4B47"/>
                </a:solidFill>
              </a:rPr>
              <a:t>Specifications</a:t>
            </a:r>
            <a:endParaRPr lang="de-DE" sz="800" dirty="0">
              <a:solidFill>
                <a:srgbClr val="4C4B47"/>
              </a:solidFill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0E1CC169-C037-0350-8E90-EBC9697C0AAF}"/>
              </a:ext>
            </a:extLst>
          </p:cNvPr>
          <p:cNvSpPr/>
          <p:nvPr/>
        </p:nvSpPr>
        <p:spPr>
          <a:xfrm>
            <a:off x="2959974" y="3934096"/>
            <a:ext cx="894805" cy="398418"/>
          </a:xfrm>
          <a:prstGeom prst="rect">
            <a:avLst/>
          </a:prstGeom>
          <a:solidFill>
            <a:srgbClr val="F6F4EE"/>
          </a:solidFill>
          <a:ln>
            <a:solidFill>
              <a:srgbClr val="C1C0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rgbClr val="4C4B47"/>
                </a:solidFill>
              </a:rPr>
              <a:t>Expert Evaluation Interviews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AFD62745-7E2C-CDC4-B370-E48DC2DDFB9F}"/>
              </a:ext>
            </a:extLst>
          </p:cNvPr>
          <p:cNvSpPr/>
          <p:nvPr/>
        </p:nvSpPr>
        <p:spPr>
          <a:xfrm>
            <a:off x="4600599" y="496388"/>
            <a:ext cx="894805" cy="398418"/>
          </a:xfrm>
          <a:prstGeom prst="rect">
            <a:avLst/>
          </a:prstGeom>
          <a:solidFill>
            <a:srgbClr val="F6F4EE"/>
          </a:solidFill>
          <a:ln>
            <a:solidFill>
              <a:srgbClr val="C1C0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>
                <a:solidFill>
                  <a:srgbClr val="4C4B47"/>
                </a:solidFill>
              </a:rPr>
              <a:t>Assigning</a:t>
            </a:r>
            <a:r>
              <a:rPr lang="de-DE" sz="800" dirty="0">
                <a:solidFill>
                  <a:srgbClr val="4C4B47"/>
                </a:solidFill>
              </a:rPr>
              <a:t> Use Cases </a:t>
            </a:r>
            <a:r>
              <a:rPr lang="de-DE" sz="800" dirty="0" err="1">
                <a:solidFill>
                  <a:srgbClr val="4C4B47"/>
                </a:solidFill>
              </a:rPr>
              <a:t>to</a:t>
            </a:r>
            <a:r>
              <a:rPr lang="de-DE" sz="800" dirty="0">
                <a:solidFill>
                  <a:srgbClr val="4C4B47"/>
                </a:solidFill>
              </a:rPr>
              <a:t> </a:t>
            </a:r>
            <a:r>
              <a:rPr lang="de-DE" sz="800" dirty="0" err="1">
                <a:solidFill>
                  <a:srgbClr val="4C4B47"/>
                </a:solidFill>
              </a:rPr>
              <a:t>Quadrants</a:t>
            </a:r>
            <a:endParaRPr lang="de-DE" sz="800" dirty="0">
              <a:solidFill>
                <a:srgbClr val="4C4B47"/>
              </a:solidFill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1912CFFC-396B-E076-8F43-67B06AB531D6}"/>
              </a:ext>
            </a:extLst>
          </p:cNvPr>
          <p:cNvSpPr/>
          <p:nvPr/>
        </p:nvSpPr>
        <p:spPr>
          <a:xfrm>
            <a:off x="4594058" y="1378131"/>
            <a:ext cx="894805" cy="398418"/>
          </a:xfrm>
          <a:prstGeom prst="rect">
            <a:avLst/>
          </a:prstGeom>
          <a:solidFill>
            <a:srgbClr val="F6F4EE"/>
          </a:solidFill>
          <a:ln>
            <a:solidFill>
              <a:srgbClr val="C1C0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>
                <a:solidFill>
                  <a:srgbClr val="4C4B47"/>
                </a:solidFill>
              </a:rPr>
              <a:t>Derive</a:t>
            </a:r>
            <a:r>
              <a:rPr lang="de-DE" sz="800" dirty="0">
                <a:solidFill>
                  <a:srgbClr val="4C4B47"/>
                </a:solidFill>
              </a:rPr>
              <a:t> DP </a:t>
            </a:r>
            <a:r>
              <a:rPr lang="de-DE" sz="800" dirty="0" err="1">
                <a:solidFill>
                  <a:srgbClr val="4C4B47"/>
                </a:solidFill>
              </a:rPr>
              <a:t>Requirements</a:t>
            </a:r>
            <a:endParaRPr lang="de-DE" sz="800" dirty="0">
              <a:solidFill>
                <a:srgbClr val="4C4B47"/>
              </a:solidFill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D0F442CA-39BF-FF13-57B9-0C65B64A081F}"/>
              </a:ext>
            </a:extLst>
          </p:cNvPr>
          <p:cNvSpPr/>
          <p:nvPr/>
        </p:nvSpPr>
        <p:spPr>
          <a:xfrm>
            <a:off x="4611749" y="2259874"/>
            <a:ext cx="894805" cy="398418"/>
          </a:xfrm>
          <a:prstGeom prst="rect">
            <a:avLst/>
          </a:prstGeom>
          <a:solidFill>
            <a:srgbClr val="F6F4EE"/>
          </a:solidFill>
          <a:ln>
            <a:solidFill>
              <a:srgbClr val="C1C0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rgbClr val="4C4B47"/>
                </a:solidFill>
              </a:rPr>
              <a:t>DP </a:t>
            </a:r>
            <a:r>
              <a:rPr lang="de-DE" sz="800" dirty="0" err="1">
                <a:solidFill>
                  <a:srgbClr val="4C4B47"/>
                </a:solidFill>
              </a:rPr>
              <a:t>Specifications</a:t>
            </a:r>
            <a:endParaRPr lang="de-DE" sz="800" dirty="0">
              <a:solidFill>
                <a:srgbClr val="4C4B47"/>
              </a:solidFill>
            </a:endParaRPr>
          </a:p>
        </p:txBody>
      </p:sp>
      <p:cxnSp>
        <p:nvCxnSpPr>
          <p:cNvPr id="32" name="Gewinkelte Verbindung 31">
            <a:extLst>
              <a:ext uri="{FF2B5EF4-FFF2-40B4-BE49-F238E27FC236}">
                <a16:creationId xmlns:a16="http://schemas.microsoft.com/office/drawing/2014/main" id="{3AF415D1-CC1B-CDB6-5CF6-499032CD909C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 flipV="1">
            <a:off x="3854779" y="695597"/>
            <a:ext cx="745820" cy="3437708"/>
          </a:xfrm>
          <a:prstGeom prst="bentConnector3">
            <a:avLst>
              <a:gd name="adj1" fmla="val 50000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B5534D8D-CB12-376B-9580-BEFBF2017843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1766750" y="894806"/>
            <a:ext cx="2" cy="48332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F8205344-B437-5308-0805-319380FA9595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2214154" y="695597"/>
            <a:ext cx="74582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5D8301E3-AF94-DF5C-9646-654591A0AE6A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3407377" y="894806"/>
            <a:ext cx="0" cy="48332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A94A4553-3798-D024-C78C-62F769F7B19F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3407377" y="1776549"/>
            <a:ext cx="0" cy="48332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93209FB5-9843-7BB1-2DC0-6B9A00EBFF1F}"/>
              </a:ext>
            </a:extLst>
          </p:cNvPr>
          <p:cNvCxnSpPr>
            <a:cxnSpLocks/>
            <a:stCxn id="16" idx="2"/>
            <a:endCxn id="75" idx="0"/>
          </p:cNvCxnSpPr>
          <p:nvPr/>
        </p:nvCxnSpPr>
        <p:spPr>
          <a:xfrm>
            <a:off x="3407377" y="2658292"/>
            <a:ext cx="0" cy="457962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EF825EA6-D75C-237C-A7FE-BFB92A422ED6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flipH="1">
            <a:off x="5041461" y="894806"/>
            <a:ext cx="6541" cy="48332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36F8E77D-187E-7B3B-8822-AE66F39A699E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>
            <a:off x="5041461" y="1776549"/>
            <a:ext cx="17691" cy="48332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hteck 65">
            <a:extLst>
              <a:ext uri="{FF2B5EF4-FFF2-40B4-BE49-F238E27FC236}">
                <a16:creationId xmlns:a16="http://schemas.microsoft.com/office/drawing/2014/main" id="{48E7D8B7-0D0E-8F9F-BED5-96B80F22ECC1}"/>
              </a:ext>
            </a:extLst>
          </p:cNvPr>
          <p:cNvSpPr/>
          <p:nvPr/>
        </p:nvSpPr>
        <p:spPr>
          <a:xfrm>
            <a:off x="4594057" y="3934096"/>
            <a:ext cx="894805" cy="398418"/>
          </a:xfrm>
          <a:prstGeom prst="rect">
            <a:avLst/>
          </a:prstGeom>
          <a:solidFill>
            <a:srgbClr val="F6F4EE"/>
          </a:solidFill>
          <a:ln>
            <a:solidFill>
              <a:srgbClr val="C1C0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rgbClr val="4C4B47"/>
                </a:solidFill>
              </a:rPr>
              <a:t>Scenario-</a:t>
            </a:r>
            <a:r>
              <a:rPr lang="de-DE" sz="800" dirty="0" err="1">
                <a:solidFill>
                  <a:srgbClr val="4C4B47"/>
                </a:solidFill>
              </a:rPr>
              <a:t>based</a:t>
            </a:r>
            <a:r>
              <a:rPr lang="de-DE" sz="800" dirty="0">
                <a:solidFill>
                  <a:srgbClr val="4C4B47"/>
                </a:solidFill>
              </a:rPr>
              <a:t> Interviews</a:t>
            </a:r>
          </a:p>
        </p:txBody>
      </p: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1D1CA28D-4528-6CA5-EA9B-6830A144C47E}"/>
              </a:ext>
            </a:extLst>
          </p:cNvPr>
          <p:cNvCxnSpPr>
            <a:cxnSpLocks/>
            <a:stCxn id="20" idx="2"/>
            <a:endCxn id="66" idx="0"/>
          </p:cNvCxnSpPr>
          <p:nvPr/>
        </p:nvCxnSpPr>
        <p:spPr>
          <a:xfrm flipH="1">
            <a:off x="5041460" y="2658292"/>
            <a:ext cx="17692" cy="127580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hteck 74">
            <a:extLst>
              <a:ext uri="{FF2B5EF4-FFF2-40B4-BE49-F238E27FC236}">
                <a16:creationId xmlns:a16="http://schemas.microsoft.com/office/drawing/2014/main" id="{80180663-7ADC-3D5C-9CC8-90F878799C7F}"/>
              </a:ext>
            </a:extLst>
          </p:cNvPr>
          <p:cNvSpPr/>
          <p:nvPr/>
        </p:nvSpPr>
        <p:spPr>
          <a:xfrm>
            <a:off x="2959974" y="3116254"/>
            <a:ext cx="894805" cy="398418"/>
          </a:xfrm>
          <a:prstGeom prst="rect">
            <a:avLst/>
          </a:prstGeom>
          <a:solidFill>
            <a:srgbClr val="F6F4EE"/>
          </a:solidFill>
          <a:ln>
            <a:solidFill>
              <a:srgbClr val="C1C0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rgbClr val="4C4B47"/>
                </a:solidFill>
              </a:rPr>
              <a:t>Use Case </a:t>
            </a:r>
            <a:r>
              <a:rPr lang="de-DE" sz="800" dirty="0" err="1">
                <a:solidFill>
                  <a:srgbClr val="4C4B47"/>
                </a:solidFill>
              </a:rPr>
              <a:t>Prototypes</a:t>
            </a:r>
            <a:r>
              <a:rPr lang="de-DE" sz="800" dirty="0">
                <a:solidFill>
                  <a:srgbClr val="4C4B47"/>
                </a:solidFill>
              </a:rPr>
              <a:t> </a:t>
            </a:r>
            <a:r>
              <a:rPr lang="de-DE" sz="800" dirty="0" err="1">
                <a:solidFill>
                  <a:srgbClr val="4C4B47"/>
                </a:solidFill>
              </a:rPr>
              <a:t>Presentation</a:t>
            </a:r>
            <a:endParaRPr lang="de-DE" sz="800" dirty="0">
              <a:solidFill>
                <a:srgbClr val="4C4B47"/>
              </a:solidFill>
            </a:endParaRPr>
          </a:p>
        </p:txBody>
      </p: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9E811ECF-638C-9698-00D3-AD081FC70DD6}"/>
              </a:ext>
            </a:extLst>
          </p:cNvPr>
          <p:cNvCxnSpPr>
            <a:cxnSpLocks/>
            <a:stCxn id="75" idx="2"/>
            <a:endCxn id="17" idx="0"/>
          </p:cNvCxnSpPr>
          <p:nvPr/>
        </p:nvCxnSpPr>
        <p:spPr>
          <a:xfrm>
            <a:off x="3407377" y="3514672"/>
            <a:ext cx="0" cy="41942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hteck 83">
            <a:extLst>
              <a:ext uri="{FF2B5EF4-FFF2-40B4-BE49-F238E27FC236}">
                <a16:creationId xmlns:a16="http://schemas.microsoft.com/office/drawing/2014/main" id="{0B6EC7F7-E9A5-FFFD-9012-153345E8ABFF}"/>
              </a:ext>
            </a:extLst>
          </p:cNvPr>
          <p:cNvSpPr/>
          <p:nvPr/>
        </p:nvSpPr>
        <p:spPr>
          <a:xfrm>
            <a:off x="4611749" y="3116254"/>
            <a:ext cx="894805" cy="398418"/>
          </a:xfrm>
          <a:prstGeom prst="rect">
            <a:avLst/>
          </a:prstGeom>
          <a:solidFill>
            <a:srgbClr val="F6F4EE"/>
          </a:solidFill>
          <a:ln>
            <a:solidFill>
              <a:srgbClr val="C1C0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rgbClr val="4C4B47"/>
                </a:solidFill>
              </a:rPr>
              <a:t>DP </a:t>
            </a:r>
            <a:r>
              <a:rPr lang="de-DE" sz="800" dirty="0" err="1">
                <a:solidFill>
                  <a:srgbClr val="4C4B47"/>
                </a:solidFill>
              </a:rPr>
              <a:t>Prototypes</a:t>
            </a:r>
            <a:r>
              <a:rPr lang="de-DE" sz="800" dirty="0">
                <a:solidFill>
                  <a:srgbClr val="4C4B47"/>
                </a:solidFill>
              </a:rPr>
              <a:t> </a:t>
            </a:r>
            <a:r>
              <a:rPr lang="de-DE" sz="800" dirty="0" err="1">
                <a:solidFill>
                  <a:srgbClr val="4C4B47"/>
                </a:solidFill>
              </a:rPr>
              <a:t>Presentation</a:t>
            </a:r>
            <a:endParaRPr lang="de-DE" sz="800" dirty="0">
              <a:solidFill>
                <a:srgbClr val="4C4B4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720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E35B2-CDA3-CE28-15DB-43E1FBA93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8066B05-20A4-73E2-A525-FE556524A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32" y="140079"/>
            <a:ext cx="5517568" cy="486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57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62881-83DE-E6F2-D5C0-79954DA25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5680E1B2-628E-3306-B914-42D2B671F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72" y="722869"/>
            <a:ext cx="3928828" cy="3462981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AF181DBE-D654-71DE-1B6B-3C9CAAEBB336}"/>
              </a:ext>
            </a:extLst>
          </p:cNvPr>
          <p:cNvSpPr/>
          <p:nvPr/>
        </p:nvSpPr>
        <p:spPr>
          <a:xfrm>
            <a:off x="1637270" y="1235676"/>
            <a:ext cx="2452816" cy="1099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B33CAE7-4039-E373-C550-76EB7685CE58}"/>
              </a:ext>
            </a:extLst>
          </p:cNvPr>
          <p:cNvSpPr/>
          <p:nvPr/>
        </p:nvSpPr>
        <p:spPr>
          <a:xfrm>
            <a:off x="943233" y="2005942"/>
            <a:ext cx="694037" cy="12747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BAEA818-7A32-23A7-209B-D5CFA2C885F4}"/>
              </a:ext>
            </a:extLst>
          </p:cNvPr>
          <p:cNvSpPr/>
          <p:nvPr/>
        </p:nvSpPr>
        <p:spPr>
          <a:xfrm>
            <a:off x="1637270" y="2335426"/>
            <a:ext cx="694037" cy="9452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A944B82-53FB-74F8-14D1-F873F88B0BAA}"/>
              </a:ext>
            </a:extLst>
          </p:cNvPr>
          <p:cNvSpPr/>
          <p:nvPr/>
        </p:nvSpPr>
        <p:spPr>
          <a:xfrm>
            <a:off x="2331307" y="2335426"/>
            <a:ext cx="1758779" cy="9452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5CEADD8-2824-A6A0-1553-3577E1791713}"/>
              </a:ext>
            </a:extLst>
          </p:cNvPr>
          <p:cNvSpPr/>
          <p:nvPr/>
        </p:nvSpPr>
        <p:spPr>
          <a:xfrm>
            <a:off x="943233" y="2907956"/>
            <a:ext cx="3146853" cy="9452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429C2E9-10B1-02F8-46A4-5157D270EBFB}"/>
              </a:ext>
            </a:extLst>
          </p:cNvPr>
          <p:cNvSpPr/>
          <p:nvPr/>
        </p:nvSpPr>
        <p:spPr>
          <a:xfrm>
            <a:off x="943233" y="3853249"/>
            <a:ext cx="3146852" cy="527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0811D17-F148-7AA6-9D4C-9ADF40F6C372}"/>
              </a:ext>
            </a:extLst>
          </p:cNvPr>
          <p:cNvSpPr/>
          <p:nvPr/>
        </p:nvSpPr>
        <p:spPr>
          <a:xfrm>
            <a:off x="943232" y="470704"/>
            <a:ext cx="3274467" cy="1022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886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Ausgangslage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404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384048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43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Herausforderung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3383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SaaS Vertrieb ist hochkomplex: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 Stakeholder pro Deal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Lange Entscheidungszyklen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 Aufgabentypen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Intensive Kommunikation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Ressourcen nötig (Security, Legal)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kann bereits viel — aber </a:t>
            </a: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genau</a:t>
            </a: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setzt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sie ein? Und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</a:t>
            </a: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gestaltet man die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Zusammenarbeit Mensch und KI?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8404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3840480" cy="54864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143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8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Beobachtung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1554480"/>
            <a:ext cx="3383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alle Aufgaben sind gleich schwer 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 auf eine spezifische Art: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 Aufgaben sind </a:t>
            </a:r>
            <a:r>
              <a:rPr lang="en-US" sz="1100" b="1" dirty="0">
                <a:solidFill>
                  <a:srgbClr val="2D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schwer zu lösen</a:t>
            </a: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 leicht zu prüfen (z.B. Sudoku).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Andere sind </a:t>
            </a:r>
            <a:r>
              <a:rPr lang="en-US" sz="110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leicht zu behaupten</a:t>
            </a: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 extrem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schwer zu verifizieren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(z.B. ROI-Versprechen).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Jason Wei nennt das die
</a:t>
            </a:r>
            <a:r>
              <a:rPr lang="en-US" sz="1300" b="1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"Asymmetry of Verification"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33BB0-9F8D-FD1B-0D1B-B8EF563B4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DA12A90-B9C5-C6BC-58C9-7D2557B06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72" y="722869"/>
            <a:ext cx="3928828" cy="3462981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C43BD7ED-F17E-A28C-CC31-061EC6231617}"/>
              </a:ext>
            </a:extLst>
          </p:cNvPr>
          <p:cNvSpPr/>
          <p:nvPr/>
        </p:nvSpPr>
        <p:spPr>
          <a:xfrm>
            <a:off x="1637270" y="1235676"/>
            <a:ext cx="2452816" cy="1099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F8582F8-4C87-E707-16DA-0354926E7B22}"/>
              </a:ext>
            </a:extLst>
          </p:cNvPr>
          <p:cNvSpPr/>
          <p:nvPr/>
        </p:nvSpPr>
        <p:spPr>
          <a:xfrm>
            <a:off x="943233" y="1959430"/>
            <a:ext cx="694037" cy="1321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02597A5-9B09-05BD-C6F6-9F91B9E9710E}"/>
              </a:ext>
            </a:extLst>
          </p:cNvPr>
          <p:cNvSpPr/>
          <p:nvPr/>
        </p:nvSpPr>
        <p:spPr>
          <a:xfrm>
            <a:off x="1637270" y="2335426"/>
            <a:ext cx="694037" cy="9452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7B35B3F-A5AF-8841-5DD9-79C4BD5097EB}"/>
              </a:ext>
            </a:extLst>
          </p:cNvPr>
          <p:cNvSpPr/>
          <p:nvPr/>
        </p:nvSpPr>
        <p:spPr>
          <a:xfrm>
            <a:off x="2331307" y="2335426"/>
            <a:ext cx="1758779" cy="9452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8D82DD7-55AA-F85E-608C-73ECD1267E00}"/>
              </a:ext>
            </a:extLst>
          </p:cNvPr>
          <p:cNvSpPr/>
          <p:nvPr/>
        </p:nvSpPr>
        <p:spPr>
          <a:xfrm>
            <a:off x="943233" y="2907956"/>
            <a:ext cx="3146853" cy="9452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95800EF-F467-E2D2-2068-9C65E615B6D7}"/>
              </a:ext>
            </a:extLst>
          </p:cNvPr>
          <p:cNvSpPr/>
          <p:nvPr/>
        </p:nvSpPr>
        <p:spPr>
          <a:xfrm>
            <a:off x="943233" y="3853249"/>
            <a:ext cx="3146852" cy="527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3540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Asymmetrie der Verifikation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Jason Wei · "Verifiers Rule"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8046720" cy="914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7947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Kernthese: Die Qualität der Verifikation bestimmt, wie gut KI eingesetzt werden kann.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Verifikation einfach ist, kann KI am schnellsten Mehrwert liefern.</a:t>
            </a:r>
            <a:endParaRPr lang="en-US" sz="1300" dirty="0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D8EA8BA5-7EB0-2707-60BC-1CD33F0F7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63" y="1197545"/>
            <a:ext cx="4254677" cy="2405509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D9FA399B-8517-0FAC-4C9C-FAC527D9F5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202" y="2096436"/>
            <a:ext cx="3337560" cy="8971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Might We ...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... apply the Verification Rule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Enterprise SaaS Sales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derive design patterns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human-AI interfaces?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3657600" cy="1463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347472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3429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HMW 1  ·  DO1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3794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aus dem Enterprise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Sales im Verifikations-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quadranten einordnen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3291840"/>
            <a:ext cx="3840480" cy="1463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Shape 9"/>
          <p:cNvSpPr/>
          <p:nvPr/>
        </p:nvSpPr>
        <p:spPr>
          <a:xfrm>
            <a:off x="4983480" y="347472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235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HMW 2  ·  DO2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23560" y="37947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 für Human-AI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ableiten — pro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Quadrantenposition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8AE68-3E5E-302C-6235-F14480D00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DAD46E98-9AED-74F6-73B9-6922B1AA5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72" y="722869"/>
            <a:ext cx="3928828" cy="3462981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BDCAE239-834B-AD33-20EC-8CF16D369352}"/>
              </a:ext>
            </a:extLst>
          </p:cNvPr>
          <p:cNvSpPr/>
          <p:nvPr/>
        </p:nvSpPr>
        <p:spPr>
          <a:xfrm>
            <a:off x="943234" y="2494384"/>
            <a:ext cx="682942" cy="7863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DFF2CAF-023E-C57F-F884-A495D2FFE3DB}"/>
              </a:ext>
            </a:extLst>
          </p:cNvPr>
          <p:cNvSpPr/>
          <p:nvPr/>
        </p:nvSpPr>
        <p:spPr>
          <a:xfrm>
            <a:off x="1637271" y="2494384"/>
            <a:ext cx="682942" cy="7863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04AFAD5-571F-2C07-8666-939AD1E528FC}"/>
              </a:ext>
            </a:extLst>
          </p:cNvPr>
          <p:cNvSpPr/>
          <p:nvPr/>
        </p:nvSpPr>
        <p:spPr>
          <a:xfrm>
            <a:off x="2331307" y="2459978"/>
            <a:ext cx="1730663" cy="820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6464192-7F2F-2B44-5444-A70611F3E542}"/>
              </a:ext>
            </a:extLst>
          </p:cNvPr>
          <p:cNvSpPr/>
          <p:nvPr/>
        </p:nvSpPr>
        <p:spPr>
          <a:xfrm>
            <a:off x="943233" y="2907956"/>
            <a:ext cx="3146853" cy="9452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487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leere Quadrant — Ausgangspunkt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Dimensionen: Generierungskomplexität (x) × Verifikationsschwierigkeit (y)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4119" y="1371600"/>
            <a:ext cx="4575763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521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Fokus: Quadrant B — Schwer generieren, leicht verifizieren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"Sweet Spot" für KI-Einsatz — hier starten wir die Exploration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4214519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03520" y="1280160"/>
            <a:ext cx="34747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303520" y="1280160"/>
            <a:ext cx="54864" cy="13716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4"/>
          <p:cNvSpPr/>
          <p:nvPr/>
        </p:nvSpPr>
        <p:spPr>
          <a:xfrm>
            <a:off x="553212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Warum hier starten?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532120" y="1691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 kann KI am meisten leisten: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Komplexe Aufgabe generieren lassen,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 schnell durch Menschen prüfbar.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Maximaler Hebel.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03520" y="2880360"/>
            <a:ext cx="34747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03520" y="2880360"/>
            <a:ext cx="54864" cy="12801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Text 8"/>
          <p:cNvSpPr/>
          <p:nvPr/>
        </p:nvSpPr>
        <p:spPr>
          <a:xfrm>
            <a:off x="5532120" y="2971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Typische Use Cases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532120" y="32918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Questionnaires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Approvals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Redlines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Support-Ticket Antworten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45902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5/7 Interviews: Security Questionnaires als größter Zeitfresser identifiziert → erster Deep Dive</a:t>
            </a:r>
            <a:endParaRPr lang="en-US" sz="1200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CA957253-5760-6F54-A34E-C2A034A45DCF}"/>
              </a:ext>
            </a:extLst>
          </p:cNvPr>
          <p:cNvSpPr/>
          <p:nvPr/>
        </p:nvSpPr>
        <p:spPr>
          <a:xfrm>
            <a:off x="2698439" y="2768778"/>
            <a:ext cx="1809617" cy="13003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Dieser Quadrant</a:t>
            </a:r>
          </a:p>
        </p:txBody>
      </p:sp>
    </p:spTree>
    <p:extLst>
      <p:ext uri="{BB962C8B-B14F-4D97-AF65-F5344CB8AC3E}">
        <p14:creationId xmlns:p14="http://schemas.microsoft.com/office/powerpoint/2010/main" val="556489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D999C-E978-C0C0-93B0-C4AD507C0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A836AF2-87FC-79E6-6BE2-335CD825FA02}"/>
              </a:ext>
            </a:extLst>
          </p:cNvPr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Questionnaire: Iteration 1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5DFE5B-7E42-639D-CC35-BFD9C9BC7F21}"/>
              </a:ext>
            </a:extLst>
          </p:cNvPr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Mehrere Echelon-Zyklen verfeinern das Artefakt schrittweise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800402A-8CA0-CDD9-697C-F9A668B63987}"/>
              </a:ext>
            </a:extLst>
          </p:cNvPr>
          <p:cNvSpPr/>
          <p:nvPr/>
        </p:nvSpPr>
        <p:spPr>
          <a:xfrm>
            <a:off x="45720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Version 1</a:t>
            </a:r>
            <a:endParaRPr lang="en-US" sz="13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0314BE19-4944-987B-E74F-D83EEBEDE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3931920" cy="2399854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4BC4FAEB-4526-BB2E-2238-DE36898523E8}"/>
              </a:ext>
            </a:extLst>
          </p:cNvPr>
          <p:cNvSpPr/>
          <p:nvPr/>
        </p:nvSpPr>
        <p:spPr>
          <a:xfrm>
            <a:off x="475488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8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Version 2 (nach Feedback)</a:t>
            </a:r>
            <a:endParaRPr lang="en-US" sz="130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F110B605-F902-527B-C5A9-1DABC52819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554480"/>
            <a:ext cx="3690705" cy="246888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8" name="Shape 4">
            <a:extLst>
              <a:ext uri="{FF2B5EF4-FFF2-40B4-BE49-F238E27FC236}">
                <a16:creationId xmlns:a16="http://schemas.microsoft.com/office/drawing/2014/main" id="{545DB4D6-F276-E348-4F4C-2A6AC710A513}"/>
              </a:ext>
            </a:extLst>
          </p:cNvPr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26C303A-8648-FACA-B2DF-817A91480D3B}"/>
              </a:ext>
            </a:extLst>
          </p:cNvPr>
          <p:cNvSpPr/>
          <p:nvPr/>
        </p:nvSpPr>
        <p:spPr>
          <a:xfrm>
            <a:off x="731520" y="4343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bringt: bessere Quellenangaben, Completion-Tracking, Eskalationsmechanismus, Team-Integration</a:t>
            </a:r>
            <a:endParaRPr lang="en-US" sz="1300" dirty="0"/>
          </a:p>
        </p:txBody>
      </p:sp>
      <p:sp>
        <p:nvSpPr>
          <p:cNvPr id="10" name="Pfeil nach rechts 9">
            <a:extLst>
              <a:ext uri="{FF2B5EF4-FFF2-40B4-BE49-F238E27FC236}">
                <a16:creationId xmlns:a16="http://schemas.microsoft.com/office/drawing/2014/main" id="{91483228-4F1F-29F3-B595-70092C7E3A46}"/>
              </a:ext>
            </a:extLst>
          </p:cNvPr>
          <p:cNvSpPr/>
          <p:nvPr/>
        </p:nvSpPr>
        <p:spPr>
          <a:xfrm>
            <a:off x="3689187" y="1584870"/>
            <a:ext cx="1399865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Iteration</a:t>
            </a:r>
          </a:p>
        </p:txBody>
      </p:sp>
    </p:spTree>
    <p:extLst>
      <p:ext uri="{BB962C8B-B14F-4D97-AF65-F5344CB8AC3E}">
        <p14:creationId xmlns:p14="http://schemas.microsoft.com/office/powerpoint/2010/main" val="2520529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Erster Punkt im Quadranten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Approvals als Referenzpunkt — eingeordnet durch Interviews und eigene Erfahrung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4575763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1645920"/>
            <a:ext cx="28346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0" y="1645920"/>
            <a:ext cx="45720" cy="22860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4"/>
          <p:cNvSpPr/>
          <p:nvPr/>
        </p:nvSpPr>
        <p:spPr>
          <a:xfrm>
            <a:off x="617220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NDA Approvals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172200" y="210312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Generierung: </a:t>
            </a: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Schwer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Klauseln analysieren, Risiken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bewerten, Empfehlung formulieren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Verifikation: </a:t>
            </a:r>
            <a:r>
              <a:rPr lang="en-US" sz="1100" b="1" dirty="0">
                <a:solidFill>
                  <a:srgbClr val="2D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Leicht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prüft: Analyse korrekt?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Empfehlung vertretbar?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Binäre Entscheidung</a:t>
            </a:r>
            <a:endParaRPr lang="en-US" sz="1100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29278FD-B938-8472-73F7-E0F7164D1D96}"/>
              </a:ext>
            </a:extLst>
          </p:cNvPr>
          <p:cNvSpPr/>
          <p:nvPr/>
        </p:nvSpPr>
        <p:spPr>
          <a:xfrm>
            <a:off x="1464319" y="3385150"/>
            <a:ext cx="760934" cy="5467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/>
              <a:t>Noch falsch platziert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0111F49-62F2-F991-08D4-959E59C6A1E2}"/>
              </a:ext>
            </a:extLst>
          </p:cNvPr>
          <p:cNvSpPr/>
          <p:nvPr/>
        </p:nvSpPr>
        <p:spPr>
          <a:xfrm>
            <a:off x="3515858" y="3575916"/>
            <a:ext cx="760934" cy="5467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/>
              <a:t>Muss hier sein</a:t>
            </a:r>
          </a:p>
        </p:txBody>
      </p:sp>
    </p:spTree>
    <p:extLst>
      <p:ext uri="{BB962C8B-B14F-4D97-AF65-F5344CB8AC3E}">
        <p14:creationId xmlns:p14="http://schemas.microsoft.com/office/powerpoint/2010/main" val="3388547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Weitere Use Cases in Quadrant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Gleiches Muster: Schwer generieren, leicht verifizieren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80160"/>
            <a:ext cx="3853274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20640" y="1280160"/>
            <a:ext cx="3657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120640" y="1280160"/>
            <a:ext cx="45720" cy="91440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371600"/>
            <a:ext cx="1188720" cy="7255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8368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5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NDA Approvals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583680" y="1691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Klausel-Review + Risiko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120640" y="2331720"/>
            <a:ext cx="3657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120640" y="2331720"/>
            <a:ext cx="45720" cy="91440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2423160"/>
            <a:ext cx="1188720" cy="72553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83680" y="2423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5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 Redlines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58368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→ Vorschlag → Begründung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120640" y="3383280"/>
            <a:ext cx="3657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5120640" y="3383280"/>
            <a:ext cx="45720" cy="91440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3474720"/>
            <a:ext cx="1188720" cy="72553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83680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5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QA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583680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KI-Draft → Mensch prüft Antwort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1" name="Text 15"/>
          <p:cNvSpPr/>
          <p:nvPr/>
        </p:nvSpPr>
        <p:spPr>
          <a:xfrm>
            <a:off x="731520" y="449884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Quadrant B gefüllt → Nächster Schritt: Kann man aus diesen Use Cases ein Design Pattern ableiten?</a:t>
            </a:r>
            <a:endParaRPr lang="en-US" sz="1200" dirty="0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AE5637DC-8E05-0A3A-64AF-6025A1246177}"/>
              </a:ext>
            </a:extLst>
          </p:cNvPr>
          <p:cNvSpPr/>
          <p:nvPr/>
        </p:nvSpPr>
        <p:spPr>
          <a:xfrm>
            <a:off x="1023105" y="3202270"/>
            <a:ext cx="760934" cy="5467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/>
              <a:t>Keine Use Cases in Q1</a:t>
            </a:r>
          </a:p>
        </p:txBody>
      </p:sp>
    </p:spTree>
    <p:extLst>
      <p:ext uri="{BB962C8B-B14F-4D97-AF65-F5344CB8AC3E}">
        <p14:creationId xmlns:p14="http://schemas.microsoft.com/office/powerpoint/2010/main" val="2027535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HMW 2 —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Patterns ableiten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 Quadrantenposition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einzelnen Use Cases zu übergreifenden Interface-Mustern.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834911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A5471-88B3-E462-8E64-7FE368FEE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8EEB143-A9C0-7D86-07AD-6CFADDF7CB97}"/>
              </a:ext>
            </a:extLst>
          </p:cNvPr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Nun will ich in dem Q Pattern </a:t>
            </a:r>
            <a:r>
              <a:rPr lang="en-US" sz="2400" b="1" dirty="0" err="1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ableiten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2DFB30-CDB5-1D79-3227-6121F1404FB0}"/>
              </a:ext>
            </a:extLst>
          </p:cNvPr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"Sweet Spot" für KI-Einsatz — hier starten wir die Exploration</a:t>
            </a:r>
            <a:endParaRPr lang="en-US" sz="13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99BD581F-A2D3-9E37-B262-180298506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4214519" cy="3200400"/>
          </a:xfrm>
          <a:prstGeom prst="rect">
            <a:avLst/>
          </a:prstGeom>
        </p:spPr>
      </p:pic>
      <p:sp>
        <p:nvSpPr>
          <p:cNvPr id="14" name="Text 11">
            <a:extLst>
              <a:ext uri="{FF2B5EF4-FFF2-40B4-BE49-F238E27FC236}">
                <a16:creationId xmlns:a16="http://schemas.microsoft.com/office/drawing/2014/main" id="{978B2FD6-285B-8620-BCE8-8730E34A7A6A}"/>
              </a:ext>
            </a:extLst>
          </p:cNvPr>
          <p:cNvSpPr/>
          <p:nvPr/>
        </p:nvSpPr>
        <p:spPr>
          <a:xfrm>
            <a:off x="731520" y="45902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5/7 Interviews: Security Questionnaires als größter Zeitfresser identifiziert → erster Deep Dive</a:t>
            </a:r>
            <a:endParaRPr lang="en-US" sz="1200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4DE6CD2E-5443-6D9C-4724-8DA11DFE94C0}"/>
              </a:ext>
            </a:extLst>
          </p:cNvPr>
          <p:cNvSpPr/>
          <p:nvPr/>
        </p:nvSpPr>
        <p:spPr>
          <a:xfrm>
            <a:off x="2698439" y="2768778"/>
            <a:ext cx="1809617" cy="13003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Hierfür ableiten</a:t>
            </a:r>
          </a:p>
        </p:txBody>
      </p:sp>
    </p:spTree>
    <p:extLst>
      <p:ext uri="{BB962C8B-B14F-4D97-AF65-F5344CB8AC3E}">
        <p14:creationId xmlns:p14="http://schemas.microsoft.com/office/powerpoint/2010/main" val="41669261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CF234-2FDD-000D-FD71-F89C44E3E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49FB36A-2CEB-D989-B0B0-9EC91B3DD859}"/>
              </a:ext>
            </a:extLst>
          </p:cNvPr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 err="1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Erstes</a:t>
            </a:r>
            <a:r>
              <a:rPr lang="en-US" sz="26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Design Pattern: Notification Inbox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020A79-C2DC-D801-4671-2E83FF934506}"/>
              </a:ext>
            </a:extLst>
          </p:cNvPr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Quadrant B · Schwer </a:t>
            </a:r>
            <a:r>
              <a:rPr lang="en-US" sz="1200" dirty="0" err="1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generieren</a:t>
            </a:r>
            <a:r>
              <a:rPr lang="en-US" sz="12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leicht</a:t>
            </a:r>
            <a:r>
              <a:rPr lang="en-US" sz="12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verifizieren</a:t>
            </a:r>
            <a:r>
              <a:rPr lang="en-US" sz="12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Hoher </a:t>
            </a:r>
            <a:r>
              <a:rPr lang="en-US" sz="1200" dirty="0" err="1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Durchlauf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BF1DFFD-D806-6895-51CB-AA6C06C8B187}"/>
              </a:ext>
            </a:extLst>
          </p:cNvPr>
          <p:cNvSpPr/>
          <p:nvPr/>
        </p:nvSpPr>
        <p:spPr>
          <a:xfrm>
            <a:off x="45720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Echelon 1: Chatbot</a:t>
            </a:r>
            <a:endParaRPr lang="en-US" sz="13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C9370C8F-38CE-D615-80AD-F1E716776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1454137" cy="256032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246C385A-1689-D71B-DC23-F884C824C916}"/>
              </a:ext>
            </a:extLst>
          </p:cNvPr>
          <p:cNvSpPr/>
          <p:nvPr/>
        </p:nvSpPr>
        <p:spPr>
          <a:xfrm>
            <a:off x="457200" y="4206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Kein Überblick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Kein strukturierter Review</a:t>
            </a:r>
            <a:endParaRPr lang="en-US" sz="1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2E3B433-D61D-F0C1-D234-6E7F09B14FE5}"/>
              </a:ext>
            </a:extLst>
          </p:cNvPr>
          <p:cNvSpPr/>
          <p:nvPr/>
        </p:nvSpPr>
        <p:spPr>
          <a:xfrm>
            <a:off x="4415338" y="1234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8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Echelon 4: </a:t>
            </a:r>
            <a:r>
              <a:rPr lang="en-US" sz="1300" b="1">
                <a:solidFill>
                  <a:srgbClr val="2D8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Inbox System</a:t>
            </a:r>
            <a:endParaRPr lang="en-US" sz="13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FB3263E6-90F8-50DF-0C52-901B0FF73C4F}"/>
              </a:ext>
            </a:extLst>
          </p:cNvPr>
          <p:cNvSpPr/>
          <p:nvPr/>
        </p:nvSpPr>
        <p:spPr>
          <a:xfrm>
            <a:off x="4415338" y="4572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Quellenangaben (ISO 27001)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Completion-Tracking (95%)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Eskalationsoption</a:t>
            </a:r>
            <a:endParaRPr lang="en-US" sz="1000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AB858B9-C386-F799-483B-7978D02EC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4366" y="1508760"/>
            <a:ext cx="2828024" cy="2881182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11" name="Pfeil nach rechts 10">
            <a:extLst>
              <a:ext uri="{FF2B5EF4-FFF2-40B4-BE49-F238E27FC236}">
                <a16:creationId xmlns:a16="http://schemas.microsoft.com/office/drawing/2014/main" id="{5EDEDA89-BA04-E043-C1AE-D07F2B599B6C}"/>
              </a:ext>
            </a:extLst>
          </p:cNvPr>
          <p:cNvSpPr/>
          <p:nvPr/>
        </p:nvSpPr>
        <p:spPr>
          <a:xfrm>
            <a:off x="2654187" y="2571750"/>
            <a:ext cx="1399865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Iteration</a:t>
            </a:r>
          </a:p>
        </p:txBody>
      </p:sp>
    </p:spTree>
    <p:extLst>
      <p:ext uri="{BB962C8B-B14F-4D97-AF65-F5344CB8AC3E}">
        <p14:creationId xmlns:p14="http://schemas.microsoft.com/office/powerpoint/2010/main" val="2122402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7CF81-A302-30E3-7D47-E4274C827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5FA779E-EC59-9C06-5952-A90351E4847F}"/>
              </a:ext>
            </a:extLst>
          </p:cNvPr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Wie </a:t>
            </a:r>
            <a:r>
              <a:rPr lang="en-US" sz="2400" b="1" dirty="0" err="1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sieht</a:t>
            </a:r>
            <a:r>
              <a:rPr lang="en-US" sz="24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das in </a:t>
            </a:r>
            <a:r>
              <a:rPr lang="en-US" sz="2400" b="1" dirty="0" err="1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anderen</a:t>
            </a:r>
            <a:r>
              <a:rPr lang="en-US" sz="24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b="1" dirty="0" err="1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Quadranten</a:t>
            </a:r>
            <a:r>
              <a:rPr lang="en-US" sz="24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b="1" dirty="0" err="1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</a:t>
            </a:r>
            <a:r>
              <a:rPr lang="en-US" sz="24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BF0527B-FDF1-E18C-4516-3AB7C010C1E1}"/>
              </a:ext>
            </a:extLst>
          </p:cNvPr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"Sweet Spot" für KI-Einsatz — hier starten wir die Exploration</a:t>
            </a:r>
            <a:endParaRPr lang="en-US" sz="13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65D77F14-46B3-A7F1-6B1E-EE23064A3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4214519" cy="3200400"/>
          </a:xfrm>
          <a:prstGeom prst="rect">
            <a:avLst/>
          </a:prstGeom>
        </p:spPr>
      </p:pic>
      <p:sp>
        <p:nvSpPr>
          <p:cNvPr id="14" name="Text 11">
            <a:extLst>
              <a:ext uri="{FF2B5EF4-FFF2-40B4-BE49-F238E27FC236}">
                <a16:creationId xmlns:a16="http://schemas.microsoft.com/office/drawing/2014/main" id="{2BCC838D-9430-E45C-7D3E-C062953FCF1C}"/>
              </a:ext>
            </a:extLst>
          </p:cNvPr>
          <p:cNvSpPr/>
          <p:nvPr/>
        </p:nvSpPr>
        <p:spPr>
          <a:xfrm>
            <a:off x="731520" y="45902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5/7 Interviews: Security Questionnaires als größter Zeitfresser identifiziert → erster Deep Dive</a:t>
            </a:r>
            <a:endParaRPr lang="en-US" sz="12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44DB78DA-4062-3F69-FE44-E32F1692AF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3216" y="2701856"/>
            <a:ext cx="1314134" cy="1338836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885B2DFA-EEBD-7DF1-C251-873B0FFD93E6}"/>
              </a:ext>
            </a:extLst>
          </p:cNvPr>
          <p:cNvSpPr/>
          <p:nvPr/>
        </p:nvSpPr>
        <p:spPr>
          <a:xfrm>
            <a:off x="2883216" y="1554480"/>
            <a:ext cx="1378041" cy="990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?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BAFD066-AE30-015E-315E-81409D9D0AFB}"/>
              </a:ext>
            </a:extLst>
          </p:cNvPr>
          <p:cNvSpPr/>
          <p:nvPr/>
        </p:nvSpPr>
        <p:spPr>
          <a:xfrm>
            <a:off x="1181714" y="1554480"/>
            <a:ext cx="1294924" cy="9304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?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8CC5F30-E42E-2611-6208-1C928BFA6045}"/>
              </a:ext>
            </a:extLst>
          </p:cNvPr>
          <p:cNvSpPr/>
          <p:nvPr/>
        </p:nvSpPr>
        <p:spPr>
          <a:xfrm>
            <a:off x="1186418" y="2942149"/>
            <a:ext cx="1378041" cy="990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835273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Weitere Quadranten, weitere Patterns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Quadrant erfordert ein eigenes Interface-Muster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C: Evidence Canvas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1897632" cy="201168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457200" y="3657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Graduelle Verifikation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Zeit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337560" y="1234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D: Decision Inbox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554480"/>
            <a:ext cx="2606040" cy="1532066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9" name="Text 5"/>
          <p:cNvSpPr/>
          <p:nvPr/>
        </p:nvSpPr>
        <p:spPr>
          <a:xfrm>
            <a:off x="3337560" y="317798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liefert Kontext,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Mensch entscheidet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217920" y="1234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8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HITL Kanban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554480"/>
            <a:ext cx="2606040" cy="1872883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12" name="Text 7"/>
          <p:cNvSpPr/>
          <p:nvPr/>
        </p:nvSpPr>
        <p:spPr>
          <a:xfrm>
            <a:off x="6217920" y="3518803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autonom,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Mensch überwacht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14" name="Text 9"/>
          <p:cNvSpPr/>
          <p:nvPr/>
        </p:nvSpPr>
        <p:spPr>
          <a:xfrm>
            <a:off x="731520" y="432511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Besonders Quadrant C (ROI-Cases): ~2 Min Generierung vs. ~14 Wochen Verifikation → Evidence Canvas als Lösung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30935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Vollständiges Bild: Quadrant × Design Patterns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3853274" cy="2926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03520" y="1097280"/>
            <a:ext cx="3474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0" y="1207008"/>
            <a:ext cx="411480" cy="411480"/>
          </a:xfrm>
          <a:prstGeom prst="ellipse">
            <a:avLst/>
          </a:prstGeom>
          <a:solidFill>
            <a:srgbClr val="2D8A4E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0" y="1207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035040" y="1097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5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HITL Kanban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303520" y="1874520"/>
            <a:ext cx="3474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0" y="1984248"/>
            <a:ext cx="411480" cy="41148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0" y="1984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035040" y="1874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5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 Inbox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303520" y="2651760"/>
            <a:ext cx="3474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0" y="2761488"/>
            <a:ext cx="411480" cy="411480"/>
          </a:xfrm>
          <a:prstGeom prst="ellipse">
            <a:avLst/>
          </a:prstGeom>
          <a:solidFill>
            <a:srgbClr val="E07A2F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0" y="2761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035040" y="2651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5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Canvas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303520" y="3429000"/>
            <a:ext cx="3474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0" y="3538728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0" y="3538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035040" y="3429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5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Inbox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4389120"/>
            <a:ext cx="804672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44165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HMW 1 ✓ Use Cases eingeordnet   |   HMW 2 ✓ Design Patterns abgeleitet   →   Aber was macht gutes HITL aus?</a:t>
            </a:r>
            <a:endParaRPr lang="en-US" sz="1300" dirty="0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8B72A671-EA80-8182-2B09-6C1CA0F6D94D}"/>
              </a:ext>
            </a:extLst>
          </p:cNvPr>
          <p:cNvSpPr/>
          <p:nvPr/>
        </p:nvSpPr>
        <p:spPr>
          <a:xfrm>
            <a:off x="927189" y="1330036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133AC27-B936-B189-9C50-987956DA4B3C}"/>
              </a:ext>
            </a:extLst>
          </p:cNvPr>
          <p:cNvSpPr/>
          <p:nvPr/>
        </p:nvSpPr>
        <p:spPr>
          <a:xfrm>
            <a:off x="2671796" y="1330036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95771401-0F10-5782-5937-4BE340AD4115}"/>
              </a:ext>
            </a:extLst>
          </p:cNvPr>
          <p:cNvSpPr/>
          <p:nvPr/>
        </p:nvSpPr>
        <p:spPr>
          <a:xfrm>
            <a:off x="927189" y="2569816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CF9E36A9-49FB-6A85-A86A-13303881C833}"/>
              </a:ext>
            </a:extLst>
          </p:cNvPr>
          <p:cNvSpPr/>
          <p:nvPr/>
        </p:nvSpPr>
        <p:spPr>
          <a:xfrm>
            <a:off x="2671796" y="260978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0393150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488D6-2594-7383-60B6-C1AFB5613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049A16FF-3FC9-C5DA-FC08-52B494B5D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72" y="722869"/>
            <a:ext cx="3928828" cy="3462981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D67F63A-9AFB-289D-D7EF-8C946FB42696}"/>
              </a:ext>
            </a:extLst>
          </p:cNvPr>
          <p:cNvSpPr/>
          <p:nvPr/>
        </p:nvSpPr>
        <p:spPr>
          <a:xfrm>
            <a:off x="1576358" y="2698321"/>
            <a:ext cx="743855" cy="58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A6B6A64-6809-9DE1-A860-019BA3709B19}"/>
              </a:ext>
            </a:extLst>
          </p:cNvPr>
          <p:cNvSpPr/>
          <p:nvPr/>
        </p:nvSpPr>
        <p:spPr>
          <a:xfrm>
            <a:off x="2331307" y="2698321"/>
            <a:ext cx="1730663" cy="58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5C816BD-A53D-A4F7-8082-F2975EC95CB2}"/>
              </a:ext>
            </a:extLst>
          </p:cNvPr>
          <p:cNvSpPr/>
          <p:nvPr/>
        </p:nvSpPr>
        <p:spPr>
          <a:xfrm>
            <a:off x="943233" y="3203510"/>
            <a:ext cx="3146853" cy="6497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4595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9BEF3-02AF-B671-172E-E0F4C515A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5D0EEAD4-FD97-2D50-6E9E-F1CE212B6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72" y="722869"/>
            <a:ext cx="3928828" cy="3462981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2F59D744-B904-BE66-C0CF-DD1E6F9ECC3A}"/>
              </a:ext>
            </a:extLst>
          </p:cNvPr>
          <p:cNvSpPr/>
          <p:nvPr/>
        </p:nvSpPr>
        <p:spPr>
          <a:xfrm>
            <a:off x="2294415" y="2687102"/>
            <a:ext cx="1767555" cy="5936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8B296E1-3B5C-7106-F56B-B87D079413AD}"/>
              </a:ext>
            </a:extLst>
          </p:cNvPr>
          <p:cNvSpPr/>
          <p:nvPr/>
        </p:nvSpPr>
        <p:spPr>
          <a:xfrm>
            <a:off x="943233" y="3203510"/>
            <a:ext cx="3146853" cy="6497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13760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2143E-4E4F-F5D8-C3AD-697E1B1F9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D039D04A-CD00-1E33-5D3C-ECD68358E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72" y="722869"/>
            <a:ext cx="3928828" cy="3462981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57636363-B228-8BB1-5DBC-314199625A6B}"/>
              </a:ext>
            </a:extLst>
          </p:cNvPr>
          <p:cNvSpPr/>
          <p:nvPr/>
        </p:nvSpPr>
        <p:spPr>
          <a:xfrm>
            <a:off x="943233" y="3113448"/>
            <a:ext cx="3146853" cy="739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0427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3A524BA-BD09-4E16-A59C-7809AD08E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72" y="722869"/>
            <a:ext cx="3928828" cy="346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6272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macht gutes Human-in-the-Loop aus?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Erkenntnisse aus den Iterationen über alle Use Cases hinweg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384048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Nicht nur Ja/Nein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ist mehr als reine Verifikation. Gute Interfaces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erfragen auch aktiven Input — Kontext, Priorisierung,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strategische Einschätzung.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280160"/>
            <a:ext cx="3840480" cy="4572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8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Gesamtsystem denken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Assignments, Eskalationswege, Rollenmodelle.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funktioniert nur, wenn es in bestehende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Organisationsstrukturen eingebettet ist.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926080"/>
            <a:ext cx="3840480" cy="45720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7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Variationen von HITL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einfachen Boolean-Flags in der DB (UI hebt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Todos hervor) bis hin zu eingebetteten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Workflow-Chains bei komplexeren Ketten.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26080"/>
            <a:ext cx="3840480" cy="457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Verifikation als Trainingsdaten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33832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menschliche Entscheidung verbessert das System.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generiert strukturiertes Feedback 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Grundlage für zunehmende Autonomie.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49884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 — das kennen wir doch? Dieses Muster der schrittweisen Autonomie gibt es bereits ...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HITL als notwendige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Übergangstechnologie</a:t>
            </a:r>
            <a:endParaRPr lang="en-US" sz="3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Software-Development-Transformation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bekanntes Muster: Von manuell über HITL zu Autonomie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8745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187452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5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Manuell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schreibt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Zeile Code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18745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371600"/>
            <a:ext cx="1874520" cy="45720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4630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97480" y="1691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5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Autocomplete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97480" y="21031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schlägt Zeilen vor.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Mensch akzeptiert.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18745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371600"/>
            <a:ext cx="187452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4630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1691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5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46320" y="21031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Cursor, Claude Code.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schreibt Files.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Mensch reviewt.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1371600"/>
            <a:ext cx="18745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371600"/>
            <a:ext cx="1874520" cy="4572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21" name="Text 19"/>
          <p:cNvSpPr/>
          <p:nvPr/>
        </p:nvSpPr>
        <p:spPr>
          <a:xfrm>
            <a:off x="6995160" y="14630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95160" y="1691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5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Autonomie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95160" y="21031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plant + baut.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Mensch definiert Ziele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prüft Ergebnis.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749040"/>
            <a:ext cx="8046720" cy="10972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7947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Schlüssel: Verifikation ermöglicht den Übergang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jeder Phase wird die Verifikation einfacher — weil das System durch HITL-Feedback lernt.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Reviews, Tests, CI/CD sind nichts anderes als strukturierte Verifikationsmechanismen.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das brauchen wir auch im Sales-Bereich.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HITL als Übergangstechnologie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3853274" cy="2926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20640" y="1005840"/>
            <a:ext cx="36576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120640" y="1005840"/>
            <a:ext cx="54864" cy="10515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3"/>
          <p:cNvSpPr/>
          <p:nvPr/>
        </p:nvSpPr>
        <p:spPr>
          <a:xfrm>
            <a:off x="5349240" y="1078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Verifikation + Generierung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349240" y="13716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erleichtert nicht nur die Verifikation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(vgl. Jason Wei), sondern auch die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Generierung von Lösungskandidaten.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120640" y="2240280"/>
            <a:ext cx="36576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120640" y="2240280"/>
            <a:ext cx="54864" cy="105156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10" name="Text 7"/>
          <p:cNvSpPr/>
          <p:nvPr/>
        </p:nvSpPr>
        <p:spPr>
          <a:xfrm>
            <a:off x="5349240" y="2313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8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Bewegung im Quadranten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349240" y="2606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Use Case bewegt sich über Zeit durch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HITL-Einsatz von rechts oben (schwer/schwer)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links unten (leicht/leicht).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120640" y="3474720"/>
            <a:ext cx="36576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120640" y="3474720"/>
            <a:ext cx="54864" cy="10515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4" name="Text 11"/>
          <p:cNvSpPr/>
          <p:nvPr/>
        </p:nvSpPr>
        <p:spPr>
          <a:xfrm>
            <a:off x="5349240" y="3547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← SW Dev Transformation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349240" y="38404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braucht es? Strukturierte Verifikations-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mechanismen, Tools, organisatorische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Bereitschaft für schrittweisen Wandel.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432511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These: HITL ist der notwendige Zwischenschritt — von manuellen Workflows über menschliche Verifikation hin zu KI-Autonomie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Ableitung auf weitere Anwendungsbereiche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Verifikationsquadrant als universelles Framework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3716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&amp; Compliance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Vertragsprüfung, Regulatorik,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Datenschutz-Assessments.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Verifikation oft binär → Quadrant B.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371600"/>
            <a:ext cx="54864" cy="13716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18288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Diagnoseunterstützung, Befunde.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Hohe Verifikationsschwierigkeit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Quadrant C/D Patterns.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017520"/>
            <a:ext cx="54864" cy="1371600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154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7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 &amp; Audit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34747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Risikobewertung, Due Diligence.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Graduelle Verifikation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Evidence Canvas Ansatz.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17520"/>
            <a:ext cx="54864" cy="137160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3154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8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 &amp; Recruiting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83480" y="34747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CV-Screening, Job Matching.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Leicht generierbar, schwer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verifizieren (Culture Fit).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Teilergebnis</a:t>
            </a: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1: Der gefüllte Quadrant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Use Cases eingeordnet, inklusive KI-induziertem Task Shifting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704" y="1371600"/>
            <a:ext cx="4816593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D40797-AD57-C3E1-F4E1-9F39C6CF6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2212D14-C3A0-4F69-EC53-A395C138B414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39FC944-FFC2-0B0E-1E4E-35CF27C71B44}"/>
              </a:ext>
            </a:extLst>
          </p:cNvPr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Teilergebnis</a:t>
            </a: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2: Vier Design Patterns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C4ECC14-6590-B584-544E-B38BA2C11926}"/>
              </a:ext>
            </a:extLst>
          </p:cNvPr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 err="1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Abgeleitet</a:t>
            </a:r>
            <a:r>
              <a:rPr lang="en-US" sz="13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</a:t>
            </a:r>
            <a:r>
              <a:rPr lang="en-US" sz="13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der Position </a:t>
            </a:r>
            <a:r>
              <a:rPr lang="en-US" sz="1300" dirty="0" err="1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r>
              <a:rPr lang="en-US" sz="13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Verifikationsquadranten  ·  = Design Principles (DP1–DP4)</a:t>
            </a:r>
            <a:endParaRPr lang="en-US" sz="13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6F9177A6-9592-1613-81C4-1B9E33161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704" y="1371600"/>
            <a:ext cx="4816593" cy="3657600"/>
          </a:xfrm>
          <a:prstGeom prst="rect">
            <a:avLst/>
          </a:prstGeom>
        </p:spPr>
      </p:pic>
      <p:sp>
        <p:nvSpPr>
          <p:cNvPr id="30" name="Rechteck 29">
            <a:extLst>
              <a:ext uri="{FF2B5EF4-FFF2-40B4-BE49-F238E27FC236}">
                <a16:creationId xmlns:a16="http://schemas.microsoft.com/office/drawing/2014/main" id="{8012DF65-7E6D-8B32-1E81-0F719CFFE637}"/>
              </a:ext>
            </a:extLst>
          </p:cNvPr>
          <p:cNvSpPr/>
          <p:nvPr/>
        </p:nvSpPr>
        <p:spPr>
          <a:xfrm>
            <a:off x="3067050" y="1720850"/>
            <a:ext cx="1619250" cy="1231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CCB4898A-41E1-CAE7-16A8-8443B0DC92C0}"/>
              </a:ext>
            </a:extLst>
          </p:cNvPr>
          <p:cNvSpPr/>
          <p:nvPr/>
        </p:nvSpPr>
        <p:spPr>
          <a:xfrm>
            <a:off x="5023673" y="1720850"/>
            <a:ext cx="1619250" cy="1231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FFA2A145-A28C-79A2-D26D-0909AEAABC38}"/>
              </a:ext>
            </a:extLst>
          </p:cNvPr>
          <p:cNvSpPr/>
          <p:nvPr/>
        </p:nvSpPr>
        <p:spPr>
          <a:xfrm>
            <a:off x="3067050" y="3135630"/>
            <a:ext cx="1619250" cy="1231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E5E360DE-54E4-3025-7D50-8B098B77D6CA}"/>
              </a:ext>
            </a:extLst>
          </p:cNvPr>
          <p:cNvSpPr/>
          <p:nvPr/>
        </p:nvSpPr>
        <p:spPr>
          <a:xfrm>
            <a:off x="5023673" y="3135630"/>
            <a:ext cx="1619250" cy="1231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8441154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Fazit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0515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Verifikationsquadrant eignet sich als praktisches Framework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die Analyse von Aufgaben im Enterprise SaaS Vertrieb.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965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Design Patterns abgeleitet: Notification Inbox, Evidence Canvas,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Kanban, Decision Inbox — je nach Quadrantenposition.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880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ist eine notwendige Übergangstechnologie — von manuellen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über menschliche Verifikation hin zu KI-Autonomie.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794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Framework ist übertragbar auf weitere Domänen,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denen KI-Mensch-Zusammenarbeit gestaltet werden muss.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1346</Words>
  <Application>Microsoft Macintosh PowerPoint</Application>
  <PresentationFormat>Bildschirmpräsentation (16:9)</PresentationFormat>
  <Paragraphs>298</Paragraphs>
  <Slides>33</Slides>
  <Notes>23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33</vt:i4>
      </vt:variant>
    </vt:vector>
  </HeadingPairs>
  <TitlesOfParts>
    <vt:vector size="37" baseType="lpstr">
      <vt:lpstr>Arial</vt:lpstr>
      <vt:lpstr>Calibri</vt:lpstr>
      <vt:lpstr>Georgia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Asymmetry of Verification in Enterprise SaaS Sales</dc:title>
  <dc:subject>PptxGenJS Presentation</dc:subject>
  <dc:creator>Johannes Hötter</dc:creator>
  <cp:lastModifiedBy>Johannes Hötter</cp:lastModifiedBy>
  <cp:revision>15</cp:revision>
  <dcterms:created xsi:type="dcterms:W3CDTF">2026-02-26T09:23:32Z</dcterms:created>
  <dcterms:modified xsi:type="dcterms:W3CDTF">2026-04-13T07:33:22Z</dcterms:modified>
</cp:coreProperties>
</file>